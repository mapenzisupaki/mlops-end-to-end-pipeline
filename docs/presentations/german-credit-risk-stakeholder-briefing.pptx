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1c942caf9e4b99" /><Relationship Type="http://schemas.openxmlformats.org/officeDocument/2006/relationships/extended-properties" Target="/docProps/app.xml" Id="R747c7d45b07f4689" /><Relationship Type="http://schemas.openxmlformats.org/officeDocument/2006/relationships/officeDocument" Target="/ppt/presentation.xml" Id="R71c5e134a1d044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60e1ce1a145bb"/>
  </p:sldMasterIdLst>
  <p:notesMasterIdLst>
    <p:notesMasterId xmlns:r="http://schemas.openxmlformats.org/officeDocument/2006/relationships" r:id="Recdc1f085245444d"/>
  </p:notesMasterIdLst>
  <p:sldIdLst>
    <p:sldId xmlns:r="http://schemas.openxmlformats.org/officeDocument/2006/relationships" id="256" r:id="R80a068147f6c4bb2"/>
    <p:sldId xmlns:r="http://schemas.openxmlformats.org/officeDocument/2006/relationships" id="257" r:id="R6f3a5627209e4d91"/>
    <p:sldId xmlns:r="http://schemas.openxmlformats.org/officeDocument/2006/relationships" id="258" r:id="R5a0eb58f93294b0b"/>
    <p:sldId xmlns:r="http://schemas.openxmlformats.org/officeDocument/2006/relationships" id="259" r:id="R4bb282df1495478d"/>
    <p:sldId xmlns:r="http://schemas.openxmlformats.org/officeDocument/2006/relationships" id="260" r:id="Rb16c902fea4e4713"/>
    <p:sldId xmlns:r="http://schemas.openxmlformats.org/officeDocument/2006/relationships" id="261" r:id="R283cd9bcf5e64d01"/>
    <p:sldId xmlns:r="http://schemas.openxmlformats.org/officeDocument/2006/relationships" id="262" r:id="R9fc9452267ad43f3"/>
    <p:sldId xmlns:r="http://schemas.openxmlformats.org/officeDocument/2006/relationships" id="263" r:id="Rc7bab8d4d48545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60e1ce1a145bb" /><Relationship Type="http://schemas.openxmlformats.org/officeDocument/2006/relationships/theme" Target="/ppt/theme/theme1.xml" Id="R6a77c400ed48475d" /><Relationship Type="http://schemas.openxmlformats.org/officeDocument/2006/relationships/notesMaster" Target="/ppt/notesMasters/notesMaster1.xml" Id="Recdc1f085245444d" /><Relationship Type="http://schemas.openxmlformats.org/officeDocument/2006/relationships/presProps" Target="/ppt/presProps.xml" Id="Rfec24b303685493c" /><Relationship Type="http://schemas.openxmlformats.org/officeDocument/2006/relationships/viewProps" Target="/ppt/viewProps.xml" Id="Rbfbf28048c074e8c" /><Relationship Type="http://schemas.openxmlformats.org/officeDocument/2006/relationships/tableStyles" Target="/ppt/tableStyles.xml" Id="R108cb20f948f4baa" /><Relationship Type="http://schemas.openxmlformats.org/officeDocument/2006/relationships/slide" Target="/ppt/slides/slide1.xml" Id="R80a068147f6c4bb2" /><Relationship Type="http://schemas.openxmlformats.org/officeDocument/2006/relationships/slide" Target="/ppt/slides/slide2.xml" Id="R6f3a5627209e4d91" /><Relationship Type="http://schemas.openxmlformats.org/officeDocument/2006/relationships/slide" Target="/ppt/slides/slide3.xml" Id="R5a0eb58f93294b0b" /><Relationship Type="http://schemas.openxmlformats.org/officeDocument/2006/relationships/slide" Target="/ppt/slides/slide4.xml" Id="R4bb282df1495478d" /><Relationship Type="http://schemas.openxmlformats.org/officeDocument/2006/relationships/slide" Target="/ppt/slides/slide5.xml" Id="Rb16c902fea4e4713" /><Relationship Type="http://schemas.openxmlformats.org/officeDocument/2006/relationships/slide" Target="/ppt/slides/slide6.xml" Id="R283cd9bcf5e64d01" /><Relationship Type="http://schemas.openxmlformats.org/officeDocument/2006/relationships/slide" Target="/ppt/slides/slide7.xml" Id="R9fc9452267ad43f3" /><Relationship Type="http://schemas.openxmlformats.org/officeDocument/2006/relationships/slide" Target="/ppt/slides/slide8.xml" Id="Rc7bab8d4d485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a54ffda35f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cc83f2a404518" /><Relationship Type="http://schemas.openxmlformats.org/officeDocument/2006/relationships/notesMaster" Target="/ppt/notesMasters/notesMaster1.xml" Id="R49633dc2fc6d47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4fa62802434bec" /><Relationship Type="http://schemas.openxmlformats.org/officeDocument/2006/relationships/notesMaster" Target="/ppt/notesMasters/notesMaster1.xml" Id="Ra547a15890394d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d79861f11400f" /><Relationship Type="http://schemas.openxmlformats.org/officeDocument/2006/relationships/notesMaster" Target="/ppt/notesMasters/notesMaster1.xml" Id="R93d1ef4a847a41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991e190f0e4ee4" /><Relationship Type="http://schemas.openxmlformats.org/officeDocument/2006/relationships/notesMaster" Target="/ppt/notesMasters/notesMaster1.xml" Id="R68af82e3ffe541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601696b64e4f11" /><Relationship Type="http://schemas.openxmlformats.org/officeDocument/2006/relationships/notesMaster" Target="/ppt/notesMasters/notesMaster1.xml" Id="R47f46200ec66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e4e7b87b43489a" /><Relationship Type="http://schemas.openxmlformats.org/officeDocument/2006/relationships/notesMaster" Target="/ppt/notesMasters/notesMaster1.xml" Id="R4ade3ab06f4842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7cf0515244492f" /><Relationship Type="http://schemas.openxmlformats.org/officeDocument/2006/relationships/notesMaster" Target="/ppt/notesMasters/notesMaster1.xml" Id="Rb2b78e30df574d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fbfd5d800841fe" /><Relationship Type="http://schemas.openxmlformats.org/officeDocument/2006/relationships/notesMaster" Target="/ppt/notesMasters/notesMaster1.xml" Id="R87c9abb4dd8c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1c247d7f44f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a5a9c08d7a84e89" /><Relationship Type="http://schemas.openxmlformats.org/officeDocument/2006/relationships/slideLayout" Target="/ppt/slideLayouts/slideLayout2.xml" Id="Rb7f250ec9bf247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250ec9bf247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57dd2c7e774bed" /><Relationship Type="http://schemas.openxmlformats.org/officeDocument/2006/relationships/notesSlide" Target="/ppt/notesSlides/notesSlide1.xml" Id="R1f80627413f44e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d1354f3f5c47f5" /><Relationship Type="http://schemas.openxmlformats.org/officeDocument/2006/relationships/notesSlide" Target="/ppt/notesSlides/notesSlide2.xml" Id="R73003b1539b1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4532e756b44156" /><Relationship Type="http://schemas.openxmlformats.org/officeDocument/2006/relationships/notesSlide" Target="/ppt/notesSlides/notesSlide3.xml" Id="R6a9a88404e76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5e6e018924800" /><Relationship Type="http://schemas.openxmlformats.org/officeDocument/2006/relationships/notesSlide" Target="/ppt/notesSlides/notesSlide4.xml" Id="Rcd0e6311ba0c4d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b92b7ae124703" /><Relationship Type="http://schemas.openxmlformats.org/officeDocument/2006/relationships/notesSlide" Target="/ppt/notesSlides/notesSlide5.xml" Id="Rb4ab5abadc1f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cefef9a08d442e" /><Relationship Type="http://schemas.openxmlformats.org/officeDocument/2006/relationships/notesSlide" Target="/ppt/notesSlides/notesSlide6.xml" Id="R4ccbe572866d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2acc3a7dff41dc" /><Relationship Type="http://schemas.openxmlformats.org/officeDocument/2006/relationships/notesSlide" Target="/ppt/notesSlides/notesSlide7.xml" Id="R89bfe13aa1cd4e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cce707fda4501" /><Relationship Type="http://schemas.openxmlformats.org/officeDocument/2006/relationships/notesSlide" Target="/ppt/notesSlides/notesSlide8.xml" Id="R6f8ad4a980e64a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9B410-B119-426D-9263-C1C52463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975D-CE70-48B2-A8E6-872C2BE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82456-BF45-4287-A8E2-ADCAF9A5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F8023-45F2-4A6C-9CAA-D01FF9F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7C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7CE"/>
                </a:solidFill>
                <a:latin typeface="Aptos"/>
                <a:ea typeface="Aptos"/>
                <a:cs typeface="Aptos"/>
              </a:rPr>
              <a:t>GERMAN CREDIT RISK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F792B-EB11-4D49-A722-CA96CB63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334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stakeholder-ready pilot is now live; production approval should focus on fairness, controls, and rollout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AB470-032C-4064-A3FB-E0B3414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7E4F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7E4F5"/>
                </a:solidFill>
                <a:latin typeface="Aptos"/>
                <a:ea typeface="Aptos"/>
                <a:cs typeface="Aptos"/>
              </a:rPr>
              <a:t>XGBoost scoring, real-time SHAP explanations, FastAPI serving, Streamlit dashboard, Docker packaging, and GCP deployment notes are implemented in the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EF05D-9C34-42A5-98C9-1D6D207D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704E7-6A99-4325-8597-F7B6A84F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11B4E-78FA-4CE2-A394-825586E6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BAD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4AE94-6C31-4547-B6A7-356256C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0.883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35ACF-9C55-4F6D-8831-9E67CF9D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test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04CFB-574A-43AE-A315-FBEC294F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19525-68FD-4101-B8F4-2EDB0E81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0E0D9-777D-4D12-9FE7-A3D7E59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A6824-891A-46E6-9303-47C9E4E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0.777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7A035-6D44-45A7-B159-6A561A2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test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E15CB-0AE6-450B-8677-45DA91DE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1DC24-AD8D-4056-B84C-DBDF71BC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A68DE-6CB6-4B4C-80ED-5BB82BC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F2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68251-AFB3-4A58-8935-38AD7DD1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0.710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33BB8-F6AA-4A12-9A72-38A6C9AF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052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recall-weighted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0CBCA-51B7-4AB4-AB35-161261C5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8F972-F530-4942-9635-F597477D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1A7FB-6544-4219-8E8A-53441923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62263-9C49-4615-A5FB-A0176808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23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0.22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528DA-07FF-4A0F-8E82-992BEF9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052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cost optimized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B8D28-2BF2-4E73-B681-69F5BE7F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813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A9D5C-EA25-46EF-8AC4-B430054E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908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B7C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7CE"/>
                </a:solidFill>
                <a:latin typeface="Aptos"/>
                <a:ea typeface="Aptos"/>
                <a:cs typeface="Aptos"/>
              </a:rPr>
              <a:t>PILOT MODE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F8460-7176-4DF3-AD13-8E04A7C5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7FF9D-6310-458A-82FE-E27ABE0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62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Not unattended production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34431A-022E-4349-966D-4A2E8860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245AA5-000A-4F33-9B95-CE31F308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Stakeholder briefing | generated from current project artifacts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8C239F-938C-49FB-9A53-029B63F8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4000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F5D4C-2C3A-4E7C-A531-1F04D5D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8CFAA16-EE2A-4BF7-AA87-3A47E0EA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010AE71-5657-402D-90CE-DDA13A9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168AC-EB00-4CF7-BEE9-2D5B7289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threshold is intentionally tuned to catch bad-risk applicants.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5E9C6-9E50-41FB-B1DB-8DB9328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loss from approving a bad applicant is treated as materially worse than lost business from rejecting a good applicant.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75D6F-9FC6-4C16-BD47-E953365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53340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FBCF8-06DC-4728-BF7D-083400D2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Cost-weighted decision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D644F-14DD-442B-82D5-F4FF549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False negative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3912-4DFB-41EE-BF5A-7156B07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337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AD029-27AC-4B51-B8FF-C31918D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337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75E1B-057C-4B67-965E-CC27B6C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1BB49-A07E-496A-8464-42A69408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False positive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54C64-7050-4C5E-BAB1-ADD8DA6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4807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F9C60-EA13-4212-9E47-59BD805E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48075"/>
            <a:ext cx="476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D7334-9A9D-4A5F-888B-2863D14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099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E4F0E-836C-486B-A893-617EA62A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Selected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B31D4-850D-4552-8991-7991D48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62425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23282-CCC7-40EC-AECC-59C34E05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62425"/>
            <a:ext cx="523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51426-4213-4D58-9C75-16805260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243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E8635-6309-4F63-AAD1-973102E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430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system moves borderline cases into review/decline earlier because missing bad-risk applicants is the dominant loss mode.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25A8F-3BC3-44D3-A2C6-81C2ACE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85D8B-F9FA-4598-91D0-8B7C842F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Operating implication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01641-B2D3-4ED6-AAFA-EC9403BB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750C0-6092-4342-9C2B-CFF9C949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Optimize for bad-class recall and F2, not raw accuracy.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6A6F1-37DB-4078-9C7D-7009A73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86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6C979-BD9A-41D8-8820-E5AB00B1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Route high-risk applications to human review before approval.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0429A-BE70-4C53-8205-639CDAF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EE076-B895-4E52-B6DE-289310EE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Use explainability and fairness reporting as approval controls.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913A8-5D16-4C8D-A29C-0F8037B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grid business cost: 114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722CC-EBDC-49EE-8602-09533734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FEDBC-13BC-42BE-ABF5-487D80E2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Project artifacts: metrics, threshold, fairness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D9DF6-D36C-4F12-814E-9C84E3E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47209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2D492-D260-42DC-8D25-4ABE41DF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1CB6B8-38F0-40CA-8A88-491022F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C5B846-122C-4EB5-9FF8-0BBD22F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MODEL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2FB92-89B0-4ECB-BF66-893586F4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Performance is recall-heavy by design, with accuracy traded down.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2B710-FAB3-4C44-A978-FFBEBBA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XGBoost model catches 88% of bad-risk cases on the test set, accepting more false positives to reduce credit-loss exposure.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4BF04-A307-471F-BEBB-C146A418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81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0B8F1-CB57-4346-8B59-0089559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 metric scorecard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03BB1-CC66-441C-A128-7AF825C9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Bad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4A063-EA81-442B-AA29-1011937E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622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CBE77-7EB8-4291-AF5D-A8E9A3DF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62275"/>
            <a:ext cx="218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221CD-1B88-4270-9964-C0496354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241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0.883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18FA7-C96F-4198-993F-C48EA19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47EF2-2049-4A1B-BE14-95873DE1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242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55197-8E45-4783-BA91-2B58987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24225"/>
            <a:ext cx="192547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88430-2671-49B5-9DCC-B189F0BA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861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0.777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C590F-642B-4A7A-BEA3-22EDBBB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F2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F478D-02EB-4CD9-9978-D4E2316D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861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457FF-B40D-4F53-8A6B-DD4E9558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86175"/>
            <a:ext cx="175831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B4295-67D6-4CB8-9A6B-0B808556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480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0.710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F8E02-C1D0-4F82-AE96-A5C9F4A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Average precision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0A92D-23C1-4236-9C0F-4405ADF8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ACAB4-FF82-4062-BD35-6DB9F29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149085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5AAD4-BF49-464E-932B-E65F84A3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100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0.602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E486E-4A72-4C0E-B099-463B0DC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7327E-D0CB-4EBB-8B21-BEDBC422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007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0EBC9-562E-4FC0-A235-BFB5837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10075"/>
            <a:ext cx="139922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A5F2F-2B4C-4733-9E8D-B8AD2CD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719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0.565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800E1-41E1-4FC2-B8EA-88B46C28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Bad precision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71A87-CB60-47B7-91A9-77A0FF3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720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4401C-7E71-4CF0-9BFC-49F37BC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72025"/>
            <a:ext cx="98564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E0C66-FD71-44FE-93E8-F275C2A5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339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0.398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5B7BD-4C44-41F9-AF53-F543CA60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4476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AD66D-6398-4854-AA6A-A9C90C0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3EDC2-3D16-473A-A4C6-09ED82F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FD9BE-2DB4-43C7-A17C-133B5C15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E4503B-43F0-47FD-938A-CA34DAE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432C44-0B4D-4E6E-AB47-A8BE7958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7BA7C1-D799-4C17-A414-41A40C68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37D81-78DF-4D21-A13F-CCC57F8B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5DE4E1-3377-414F-8429-47DBBEE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84F87D-2834-4B0A-BF3B-8456973B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9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33AD7-77F0-43A1-918D-F3EA7B38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24EBFA-29F1-4CAE-9B09-F1C6E46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743FB2-88CD-49EF-BD2C-7EA72F5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010490-2788-412E-A567-F80A44B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2444FB-992A-4FDC-AE90-0F605CAC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Only 7 bad-risk applicants were missed in the test split; the review queue expands because 80 good-risk applicants are flagged.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3D97F7-D35C-4F2E-B3AB-9AF6F4FE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781C35-D69A-420A-9162-66B50309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Project artifacts: metrics, threshold, fairness report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0203B-8F2A-4EE0-8376-B466D830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47826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9962C-E523-4E41-8EA1-4D22012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C01F27-1C37-43F6-B260-A5E0B33A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ABE668-5DC7-489F-9E2B-A23EFC9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PLATFORM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DB9BC-E281-473F-973A-E6F57041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implementation is modular enough to deploy and govern.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E0FAB-5909-4EC1-8A7F-65286723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Each production concern has a visible owner: data preparation, model training, fairness audit, explainability, serving, dashboarding, and cloud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FF57C-2F63-4B4E-AB28-255922AD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CAFBD-051A-4160-8E32-28C40876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20728-ABD1-4B88-B00E-0873D945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BABF2-BD7C-4C8A-B6C0-88B955EC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German Credit CSV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1,000 applicants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763C2-EE24-4F2E-8391-7740CC1F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FC40F-5BBB-484D-A845-68DC5A6B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670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F4F2F-6C87-44C6-B0F7-0A305D85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7066E-7B5F-400C-9293-B24ABEC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2F502-2173-4EE1-8ADD-D11F5318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E9149-11B0-46A3-A2BA-CF12BD15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Account imputation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ColumnTransformer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5FABC-1C4D-4107-82D3-5A2D0902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B72E3-63BA-4E90-9123-1B017B9B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AD955-7253-41E1-86CF-7D2BC222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1743C-5A99-4FF2-9708-A40C7FB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E0613-BB6B-4F36-AB2C-EAA90CB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C9C7F-88B3-4C50-9A7A-97C88D18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XGBClassifier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weighted bad class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BFF37-A9C8-4E7E-985D-ED59E8CE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18F53-ABF1-43C8-9528-3338DCC8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670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72CEE-29D4-4754-B72D-B778D9D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5DE12-40B6-40B5-82FA-168A60EB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7FFEC-D52E-4B90-A398-E45EB7C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3BD24-779E-44B9-BC5E-97F9DC19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Fairness metrics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Age + Sex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81B0D-0F0A-40C5-872D-1FBC8F1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BEF9C-D106-4580-9580-561CAA7D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EA193-EFB3-475A-AE37-13123BCA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948AC-3E76-4100-A6DA-FD54E807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F02384-43FA-4694-B30A-558AFB9F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0C8FD-91FF-41A9-AAF4-498C6774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XGBoost TreeSHAP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 prediction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D11BD5-DED7-47EF-9D8A-252E9E7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B5A8A-0C28-4883-90D5-EFF3AC1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813850-1267-4DE0-904C-8BA15B9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B3C0CD-B5EA-4D4B-892C-BF6D093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23959-158B-44CF-85AE-59D6336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FFD316-25BE-48AE-BC10-E4518FD2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FastAPI /predict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Docker-ready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868636-1836-4AC9-8C0A-9F0BFA08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1051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3DBAE7-B45E-4C9D-9FAD-48FD5039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67050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33EDAA-03A9-406D-BDD7-8C4E9CF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7590EF-872C-4977-B17D-BA9A7F47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352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F92684-06A0-45CF-9700-D5753B00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7432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C7E25A-967E-4858-824B-3A8B387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28950"/>
            <a:ext cx="1085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Streamlit dashboard</a:t>
            </a:r>
          </a:p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PowerBI-style views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E7377A-20DC-4958-849A-28CB99A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C94421-37D6-43B3-ACBF-BC9EE328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Deployment path: GitHub → Docker image → Artifact Registry → Cloud Run / Vertex AI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E04B50-9B72-48F6-B1C4-D11F096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Pilot scope today: local app + documented GCP handoff; production adds registry, secrets, monitoring, and approvals.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E66556-F7C9-4EAE-AA33-461910C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4AD932-3FC5-45F3-9C39-9D718F24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project package layout, API, dashboard, Dockerfile, deployment notes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DE3CFC-05B0-42AA-B136-1ECE91F9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42956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44D60-57F5-4E39-A99E-6157853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A3A9F4-F0C3-4CC8-AD54-688E86FD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8C0734-2DAA-40CA-8B4D-2E063934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FAIRNESS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C6EF2-8CD9-4841-8DDF-2ED1907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Fairness is the primary blocker before automated production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4B30B-A06E-444A-AB86-3525E363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model is useful for decision support, but protected-group metrics show disparate approval patterns that require risk and compliance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4D558-1C60-4CDF-A2D0-A9D7DBBA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5601D-2118-43D7-9BAD-6D45E90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Sex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21D9D-BDC4-4189-8437-CCC9E010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Parity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0AAF1-6EB7-422D-A99D-41955F8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575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665CF-4C63-4E5F-AE64-40B3789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57525"/>
            <a:ext cx="131883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23E9-6B77-45FF-8CDA-38158F88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194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0.602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5EA58-A5F6-4BDD-94E4-1E37AF2D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Parity difference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5456B-09A2-4E59-BED9-5E3E149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764A8-0547-414E-B1F3-DEB9E4C1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6659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DA017-0C64-490F-B367-CE99F191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14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0.152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CB717-7416-432C-A2BE-A37DACE8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Equalized odds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C8667-ADDF-48EE-9B91-A7223EC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34CEB-07FC-42DB-BE7B-2B33863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48125"/>
            <a:ext cx="84124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CCC5E-E272-4EE0-91F1-62062BAC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00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0.192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688B6-99EE-4DB9-9694-EE495F9D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Female approval rate: 23.0%</a:t>
            </a:r>
          </a:p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Male approval rate: 38.1%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1F940-FE2E-4F99-884E-A7FD3EE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07AB7-91E7-44B5-A824-358B2AF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Age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C0385-5932-483A-A594-38DBBCC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Parity ratio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1FE83-1F77-4611-9015-EF75AE9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751E7-8D9F-40FA-970B-6458FB7C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57397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2F50F-BDC9-4582-84A7-1B8C5023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194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0.262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4EFE9-3161-4099-BFA4-88C1DAFD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Parity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D290B-26DF-4D03-A5D4-9F0C525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528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1DB56-45A5-4599-B91D-D41A8D2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52825"/>
            <a:ext cx="158172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9698E-D95A-4EDA-94BB-2BFA3BC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147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0.361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ED01D-09C4-46AB-ABCC-4DC2455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Equalized odds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A3980-58B5-4DAD-AB45-B32E5E48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69A5DE-56D9-4A08-B996-EC160129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01987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98D0E3-B1E8-4455-B60C-9074FF2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100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0.461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0DB160-9CC2-45E7-A5A2-C11C7205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385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Recommendation: keep human-in-the-loop review, document adverse-action rationale, and assess mitigation before automated approvals.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207C4-681B-4E3B-8214-AB009F5B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CA818-2343-4BE0-9EA8-BE559F30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artifacts/fairness_report.json | Protected attributes: Age and Sex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A2E773-1DE1-4E32-968A-CB96F48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65561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1FF06-C423-4DC8-8DA7-B9265B4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0E7B4D-CB2E-482C-9C58-46D3D7F7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8F045E-6473-40DB-A49F-FB2AF190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EXPLAINABLE DECISIONING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006F-6F08-47CA-BADA-AA042327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Every API prediction now carries local reason codes.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D403F-A3E2-462E-B931-E251BFC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endpoint returns the risk probability, recommended action, and top XGBoost TreeSHAP drivers so underwriters can see why the score moved.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46968-B43A-4A69-A35A-F32DA926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5243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5A08E-DCB4-4D1E-98CC-1F16E8A1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/predict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B9A03-7B98-43EC-9E78-25D83D89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695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"bad_loan_probability": 0.633,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"predicted_bad": 1,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"recommended_action": "review_or_decline",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"explanation": {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  "method": "xgboost_tree_shap_pred_contribs",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  "top_features": [...]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 algn="l">
              <a:defRPr sz="105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36320-F510-4853-A400-59DCE9B6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C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CE"/>
                </a:solidFill>
                <a:latin typeface="Aptos"/>
                <a:ea typeface="Aptos"/>
                <a:cs typeface="Aptos"/>
              </a:rPr>
              <a:t>Response structure is stakeholder-readable and machine-consumable.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61870-CEDB-4BDF-8936-8C8D7B9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90750"/>
            <a:ext cx="581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FBA53-BF96-4F48-97A5-78DB0E76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Example SHAP driver 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EEA71-E0BA-47E5-9080-E851773B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Checking: No 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59CFF-76B0-48F4-B3B4-DB9D06F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FAF2F-2BB9-4D01-A184-EBEAE39D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22539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7E3CD-70C5-465F-B995-C0B1633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575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+0.464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CF55D-B22A-4FB2-A1AB-071D4B46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D2063-E38F-49B5-9E20-5862213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91D0F-443A-4203-8AE3-125F361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18362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1FC16-9536-4E70-8D2B-ECE2352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671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+0.378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B52E4-C6D5-4A40-BB29-4B2EEE5D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66762-8189-4058-A860-7453423C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4775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BECCE-0285-453F-86FE-DF0C47D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4775"/>
            <a:ext cx="122415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4DBF2-FEB3-4A4E-9517-1AF30518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766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-0.252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3AAA6-AD21-40E4-82E8-3F561650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957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Checking: little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6541C-7DFD-4132-94BD-F571AC72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FC686-F83E-4FAC-9B1F-D62412D3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15128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410761-62C4-4FFF-B78D-8406376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862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-0.237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B0353-F938-4219-8358-28FAAC03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Savings: little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2E009-9DE0-4F68-84CF-BBA94141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33925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F94FA-2189-4589-BC9C-3A7DECD1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33925"/>
            <a:ext cx="9278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433EA-BD1E-4EE6-9379-3BDD503D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958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+0.191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8DBD63-FCFC-433F-8B49-B505DD4C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006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Positive values increase bad-loan risk; negative values reduce it. These are local explanations for the submitted applicant.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E016CB-5788-4DEB-9BFC-5CC891E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0E446-6003-4117-B8AE-122C03B6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live /predict response and src/credit_risk/explain.py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82869-A318-47B3-8898-84052C40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63889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C8F72-A053-4E5A-A3E0-33CDBCA7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B959BF-C488-4E1D-A5D2-410F7365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E5D73E-70C3-4106-B68C-5F37533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STAKEHOLDER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33C5C-D11C-477B-A5F2-F9E9F248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dashboard turns the model into an operating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A7374-A3BA-41F0-B004-5EF877B3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Stakeholders can inspect portfolio mix, model metrics, fairness audit, single-applicant scoring, SHAP drivers, and deployment references without opening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E2A88-35F4-4BF0-AFB4-9ED18B8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81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F61E3-49F3-4363-8092-DBA7C73B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Command center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0F94A-8678-46F1-A0E4-17AC080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82A66-AC34-489B-A993-D7AFE63D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Executive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BFEAE-7962-4B8C-A184-6A4E6282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95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KPIs, risk distribution, portfolio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5293C-F0B2-460C-BE82-C417A1EA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61C00-DA8C-44A5-942B-BBA197CE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Model 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43865-BC6E-46CE-9CA8-FF7CD7E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ROC-AUC, bad recall, F2, confusion 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F502B-3608-4FD8-A7CF-6C71AF96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5E42B-D33C-494E-B78E-EE65D201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Fairness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3D12D-84B2-4BC1-A255-2318BE7D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Age/Sex parity and equalized odds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AA995-7B8C-4CAD-9DBB-625EAFF0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EEBDF-24C1-4200-8692-E95C7479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Applicant Scoring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9E2F4-BC26-421C-B70B-1D7B941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672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Interactive form plus SHAP driver chart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21504-F7A4-45AA-8F61-4464E89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1BB9C-673C-4B58-9DC7-57426F5C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5F5CE-B791-4003-8968-006EC92D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24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and GCP runbook commands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392B4-A82F-44B7-AE21-38A9ECF6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381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0C031-015D-410D-927E-F07A820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 shift made after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0BC38-8662-4207-819B-31390509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38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70DC3D-BE1F-45A8-BB4D-7695A47A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Dark filter rail with dropdown slicers instead of cramped chips.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34620-3FFF-46D9-B305-FE9A658B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041C78-E269-4191-B8DB-2A307B2B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23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Light report canvas so numbers and chart labels stay legible.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586D0B-7E8E-45CF-944F-2984357C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7A521-44E1-41E1-B874-C71BA428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Wider views and fewer squeezed chart/table panels.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679C3-1EC5-4BEB-9D4A-F331A05E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Result: a PowerBI-style stakeholder experience while staying lightweight in Streamlit.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DD0A3-BB2A-4D5A-A664-90279A34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81845-0E53-4E15-A508-D4B5DE4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app/dashboard.py and Streamlit preview at localhost:8501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42568B-9951-4DE6-892E-9FE78F46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219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53965-CDB7-46D0-8208-D10ACEA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FB0BA5-C647-4148-9280-CB88B277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F6095BA-F47D-4E61-9B5E-3F4A7D6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F9105-1ED0-4ABB-939C-3DB45E3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Approve a controlled pilot, not unattended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20021-552B-4B84-9DB4-9936E55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technical foundation is live; the remaining work is governance, environment hardening, and production monitoring.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EDD1A-DC70-4285-A0D0-628FD87E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69C48-BA96-4FF0-BD48-F1BFC9B9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6806C-38B9-480C-8A43-152B40F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Pilot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10EF4-9B08-4C35-9DF0-FE13B18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the platform for analyst review and stakeholder demos with non-production data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897B3-156C-4B9C-8E65-FDF91FD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7A1F9-63EC-49BE-A589-CF21AF24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BA818-F7B8-49CF-80FB-C711B97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Governance sign-off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484A3-F472-4D31-939C-8E33597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Resolve fairness thresholds, adverse-action wording, and protected-attribute review policy.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9F94D-2E3A-45DE-AD69-870A46EF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170E0-EB9A-475F-876F-742E736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324C7-6515-4E38-8F8D-C417348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Production hardening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561FC-64A7-4001-B7EF-8665FDD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Add model registry, secrets management, CI/CD, monitoring alerts, and Cloud Run or Vertex AI deployment.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DD1A-3159-4D77-AE58-95E9E05F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1AA9A-9517-4222-AE4E-C752ED1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91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 next step: stakeholder review of model metrics + fairness report, then a 2-4 week controlled pilot backlog.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AE745-65DC-43A8-875D-E141965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3C6AF-3547-4B33-8ED0-4E4DEF28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Production caveat: German Credit is a small historical dataset; do not use for automated adverse action without legal/risk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B7500-C08F-4493-973C-A264F9B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7706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2026-05-15T20:06:10.2910000Z</dcterms:created>
  <dcterms:modified xsi:type="dcterms:W3CDTF">2026-05-15T20:06:10.2910000Z</dcterms:modified>
</coreProperties>
</file>